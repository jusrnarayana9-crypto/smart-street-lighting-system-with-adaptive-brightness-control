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oto Serif Semi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C21FA-86D8-4C0A-AFA6-2B8D9B95F005}" v="1" dt="2026-10-01T10:00:21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1T10:00:35.220" v="6" actId="14100"/>
      <pc:docMkLst>
        <pc:docMk/>
      </pc:docMkLst>
      <pc:sldChg chg="modSp mod">
        <pc:chgData name="LOKESH VARMA" userId="5a6544d979890337" providerId="LiveId" clId="{18709C81-8BFC-496B-85F4-F173543D6FD6}" dt="2026-10-01T10:00:35.220" v="6" actId="14100"/>
        <pc:sldMkLst>
          <pc:docMk/>
          <pc:sldMk cId="0" sldId="256"/>
        </pc:sldMkLst>
        <pc:spChg chg="mod">
          <ac:chgData name="LOKESH VARMA" userId="5a6544d979890337" providerId="LiveId" clId="{18709C81-8BFC-496B-85F4-F173543D6FD6}" dt="2026-10-01T10:00:35.220" v="6" actId="14100"/>
          <ac:spMkLst>
            <pc:docMk/>
            <pc:sldMk cId="0" sldId="256"/>
            <ac:spMk id="6" creationId="{8C1AF934-E295-C190-4A4E-AED592972A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50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1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2054324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Smart Street Lighting System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526830"/>
            <a:ext cx="622363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IoT-based intelligent street lighting solution with </a:t>
            </a:r>
            <a:r>
              <a:rPr lang="en-US" sz="15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Brightness Control</a:t>
            </a: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based on Traffic Density and Ambient Light Conditions — improving road safety while reducing unnecessary electricity consumption through centralized monitoring and management.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AF934-E295-C190-4A4E-AED592972AD9}"/>
              </a:ext>
            </a:extLst>
          </p:cNvPr>
          <p:cNvSpPr txBox="1"/>
          <p:nvPr/>
        </p:nvSpPr>
        <p:spPr>
          <a:xfrm>
            <a:off x="9576109" y="6237142"/>
            <a:ext cx="261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ARSI UDAY</a:t>
            </a:r>
            <a:br>
              <a:rPr lang="en-IN" dirty="0"/>
            </a:br>
            <a:r>
              <a:rPr lang="en-IN" dirty="0"/>
              <a:t>323129520030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70" y="488950"/>
            <a:ext cx="4409965" cy="5880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88665"/>
            <a:ext cx="6223638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98086" y="1394520"/>
            <a:ext cx="2914180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The Core Issue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1764506"/>
            <a:ext cx="2914180" cy="117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Street lighting is essential for road safety and public security. Yet conventional streetlights operate at </a:t>
            </a:r>
            <a:r>
              <a:rPr lang="en-US" sz="125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fixed brightness levels</a:t>
            </a: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regardless of traffic movement or environmental conditions.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98086" y="3087886"/>
            <a:ext cx="2914180" cy="1258094"/>
          </a:xfrm>
          <a:prstGeom prst="roundRect">
            <a:avLst>
              <a:gd name="adj" fmla="val 5411"/>
            </a:avLst>
          </a:prstGeom>
          <a:solidFill>
            <a:srgbClr val="FCF2B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106" y="3283347"/>
            <a:ext cx="202500" cy="1620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4626" y="3246834"/>
            <a:ext cx="2225619" cy="940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Fixed brightness leads to unnecessary energy consumption around the clock, even when roads are empty.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013893" y="1394520"/>
            <a:ext cx="2914180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Authorities Need</a:t>
            </a:r>
            <a:endParaRPr lang="en-US" sz="15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3893" y="1780977"/>
            <a:ext cx="2914180" cy="14372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271161" y="1962051"/>
            <a:ext cx="2475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Adaptive Intelligence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271161" y="2332037"/>
            <a:ext cx="2475843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adjust brightness according to traffic density and ambient light levels.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3893" y="3349923"/>
            <a:ext cx="2914180" cy="14372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71161" y="3530997"/>
            <a:ext cx="2475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Energy Efficiency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271161" y="3900984"/>
            <a:ext cx="2475843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electricity waste without compromising road safety or public security.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3893" y="4918869"/>
            <a:ext cx="2914180" cy="120223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271161" y="5099943"/>
            <a:ext cx="2475843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Intelligent Management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4271161" y="5469930"/>
            <a:ext cx="2475843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Centralized systems that respond to real-world conditions dynamically.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7969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Proposed Solution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065338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5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Street Lighting System</a:t>
            </a: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leverages IoT technologies, traffic detection, and ambient light sensing to deliver a secure, user-friendly centralized platform for intelligent streetlight management.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928045"/>
            <a:ext cx="1990675" cy="1230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4407694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Traffic Detection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4820642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Streetlight brightness is dynamically adjusted based on detected traffic movement in real time.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704" y="2928045"/>
            <a:ext cx="1990675" cy="1230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9704" y="4407694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Ambient Light Sensing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79704" y="4820642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Ambient light conditions are continuously monitored to determine appropriate lighting levels.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322" y="2928045"/>
            <a:ext cx="1990675" cy="12303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1322" y="4407694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Centralized Platform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061322" y="4820642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secure and user-friendly platform enables remote monitoring and management of all streetlights.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7586"/>
            <a:ext cx="10795524" cy="48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Project Objectives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98086" y="1532533"/>
            <a:ext cx="371664" cy="37167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7339" y="1572617"/>
            <a:ext cx="233158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06470" y="1589286"/>
            <a:ext cx="636760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Automatic Brightness Control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06470" y="1968897"/>
            <a:ext cx="63676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Automatically control streetlight brightness based on real-time conditions.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8086" y="2484041"/>
            <a:ext cx="371664" cy="37167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7339" y="2524125"/>
            <a:ext cx="233158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6470" y="2540794"/>
            <a:ext cx="636760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Traffic &amp; Ambient Monitoring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6470" y="2920405"/>
            <a:ext cx="63676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traffic movement, traffic density, and surrounding ambient light conditions.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8086" y="3435548"/>
            <a:ext cx="371664" cy="37167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7339" y="3475633"/>
            <a:ext cx="233158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6470" y="3492302"/>
            <a:ext cx="636760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Energy Reduction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6470" y="3871913"/>
            <a:ext cx="63676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unnecessary electricity consumption through dynamic brightness adjustment.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8086" y="4387056"/>
            <a:ext cx="371664" cy="37167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7339" y="4427141"/>
            <a:ext cx="233158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6470" y="4443809"/>
            <a:ext cx="636760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Safety &amp; Security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06470" y="4823420"/>
            <a:ext cx="63676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road safety and public security at all times.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8086" y="5338564"/>
            <a:ext cx="371664" cy="371673"/>
          </a:xfrm>
          <a:prstGeom prst="roundRect">
            <a:avLst>
              <a:gd name="adj" fmla="val 1866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7339" y="5378648"/>
            <a:ext cx="233158" cy="291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06470" y="5395317"/>
            <a:ext cx="636760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Fault Detection &amp; Maintenance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06470" y="5774928"/>
            <a:ext cx="6367601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operational status, detect and report lighting faults, and reduce maintenance costs.</a:t>
            </a:r>
            <a:endParaRPr lang="en-US" sz="13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3437" y="1592362"/>
            <a:ext cx="3516423" cy="351651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983437" y="5262761"/>
            <a:ext cx="3516423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supports </a:t>
            </a:r>
            <a:r>
              <a:rPr lang="en-US" sz="13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sustainable smart-city infrastructure</a:t>
            </a: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combining intelligent automation with centralized operational oversight.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Sensors and System Components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98086" y="1269405"/>
            <a:ext cx="11405108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 integrated components work together to enable intelligent, adaptive streetlight control across the entire network.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98086" y="1640284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3380" y="1805583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544" y="1936651"/>
            <a:ext cx="214506" cy="2145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3380" y="2409031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Motion Sensors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3380" y="2718792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traffic movement along the road.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59147" y="1640284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24442" y="1805583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5606" y="1936651"/>
            <a:ext cx="214506" cy="2145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24442" y="2409031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Light Intensity Sensors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24442" y="2718792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Measure surrounding ambient light conditions continuously.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98086" y="3239095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3380" y="3404394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544" y="3535462"/>
            <a:ext cx="214506" cy="2145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3380" y="4007842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IoT Communication Modules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3380" y="4317603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Transmit sensor and streetlight information to the platform.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59147" y="3239095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24442" y="3404394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5606" y="3535462"/>
            <a:ext cx="214506" cy="2145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24442" y="4007842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Streetlight Control System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24442" y="4317603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Dynamically adjusts brightness based on incoming data.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98086" y="4837906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63380" y="5003205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4544" y="5134273"/>
            <a:ext cx="214506" cy="2145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63380" y="5606653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Cloud-Based Monitoring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863380" y="5916414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Provides centralized monitoring and management of all streetlights.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59147" y="4837906"/>
            <a:ext cx="5334462" cy="1472208"/>
          </a:xfrm>
          <a:prstGeom prst="roundRect">
            <a:avLst>
              <a:gd name="adj" fmla="val 4535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24442" y="5003205"/>
            <a:ext cx="476833" cy="476845"/>
          </a:xfrm>
          <a:prstGeom prst="ellipse">
            <a:avLst/>
          </a:prstGeom>
          <a:solidFill>
            <a:srgbClr val="E851B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5606" y="5134273"/>
            <a:ext cx="214506" cy="21451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324442" y="5606653"/>
            <a:ext cx="500387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6324442" y="5916414"/>
            <a:ext cx="5003873" cy="22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Displays streetlight status and operational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4158"/>
            <a:ext cx="10795524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Working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98086" y="1247180"/>
            <a:ext cx="10795524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adaptive brightness control cycle operates continuously — avoiding unnecessary electricity usage by responding to real-world traffic and light conditions at every step.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20" y="1809849"/>
            <a:ext cx="10449755" cy="3921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14221" y="4645470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Analyze &amp; Adjust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27860" y="4645470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Transmit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52294" y="4788175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Collect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376729" y="4645470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Measure Light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57981" y="4645470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 Motion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8086" y="5862638"/>
            <a:ext cx="10795524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 each cycle, the system ensures streetlights operate at precisely the right brightness — </a:t>
            </a:r>
            <a:r>
              <a:rPr lang="en-US" sz="12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more, no less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eliminating wasteful fixed-level operation and keeping roads safe at all times.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81720"/>
            <a:ext cx="6223638" cy="898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Monitoring Dashboard and Analytics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269971" y="1772245"/>
            <a:ext cx="292559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Information Displayed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0922" y="2109192"/>
            <a:ext cx="2944640" cy="8107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0764" y="2128242"/>
            <a:ext cx="273479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Streetlight Status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60764" y="2469654"/>
            <a:ext cx="273479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operational state of every light in the network.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0922" y="3115667"/>
            <a:ext cx="2944640" cy="81071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0764" y="3134717"/>
            <a:ext cx="273479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Energy Consumption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460764" y="3476129"/>
            <a:ext cx="273479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and historical electricity usage data.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0922" y="4122142"/>
            <a:ext cx="2944640" cy="8107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60764" y="4141192"/>
            <a:ext cx="2734797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Traffic Activity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460764" y="4482604"/>
            <a:ext cx="273479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and recent traffic movement patterns.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0922" y="5128617"/>
            <a:ext cx="2944640" cy="10352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60764" y="5147667"/>
            <a:ext cx="2734797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Fault Alerts &amp; Maintenance Reports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5460764" y="5713611"/>
            <a:ext cx="2734797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notifications and scheduled maintenance planning.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8574369" y="1772245"/>
            <a:ext cx="2925590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What Authorities Can Do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8574369" y="2113657"/>
            <a:ext cx="2925590" cy="2791619"/>
          </a:xfrm>
          <a:prstGeom prst="rect">
            <a:avLst/>
          </a:prstGeom>
          <a:noFill/>
          <a:ln/>
        </p:spPr>
        <p:txBody>
          <a:bodyPr wrap="square" lIns="0" tIns="61090" rIns="0" bIns="0" rtlCol="0" anchor="t">
            <a:normAutofit/>
          </a:bodyPr>
          <a:lstStyle/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Monitor streetlights </a:t>
            </a: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remotely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a single interface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energy usage and identify savings opportunities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Identify and respond to faults immediately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 traffic activity patterns over time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Plan and schedule maintenance activities efficiently</a:t>
            </a:r>
            <a:endParaRPr lang="en-US" sz="1200" dirty="0"/>
          </a:p>
          <a:p>
            <a:pPr marL="243840" indent="-243840" algn="l">
              <a:lnSpc>
                <a:spcPct val="118000"/>
              </a:lnSpc>
              <a:buSzPct val="100000"/>
              <a:buChar char="•"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lighting operations across the entire network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69528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Adaptive Brightness Control and Benefits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8086" y="1519634"/>
            <a:ext cx="5192483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How It Works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26927"/>
            <a:ext cx="841552" cy="1222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81617" y="2095202"/>
            <a:ext cx="4208953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681617" y="2484735"/>
            <a:ext cx="4208953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Traffic detection and ambient light sensors gather real-time conditions.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86" y="3149302"/>
            <a:ext cx="841552" cy="1222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81617" y="3317577"/>
            <a:ext cx="4208953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Analyze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681617" y="3707110"/>
            <a:ext cx="4208953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determines the appropriate brightness level for current conditions.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86" y="4371677"/>
            <a:ext cx="841552" cy="1222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81617" y="4539952"/>
            <a:ext cx="4208953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Adjust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681617" y="4929485"/>
            <a:ext cx="4208953" cy="49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Streetlight brightness is set dynamically — avoiding unnecessary fixed brightness.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307476" y="1519634"/>
            <a:ext cx="5192483" cy="247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Major Benefits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307476" y="1926927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482096" y="2101552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Reduces Electricity Consumption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8974707" y="1926927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9327" y="2101552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Improves Energy Efficiency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307476" y="2925961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82096" y="3100586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Improves Road Safety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8974707" y="2925961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49327" y="3100586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Enhances Public Security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6307476" y="3924995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82096" y="4099620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🔧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Reduces Maintenance Costs</a:t>
            </a:r>
            <a:endParaRPr lang="en-US" sz="1550" dirty="0"/>
          </a:p>
        </p:txBody>
      </p:sp>
      <p:sp>
        <p:nvSpPr>
          <p:cNvPr id="24" name="Shape 19"/>
          <p:cNvSpPr/>
          <p:nvPr/>
        </p:nvSpPr>
        <p:spPr>
          <a:xfrm>
            <a:off x="8974707" y="3924995"/>
            <a:ext cx="2525252" cy="857052"/>
          </a:xfrm>
          <a:prstGeom prst="roundRect">
            <a:avLst>
              <a:gd name="adj" fmla="val 8248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9327" y="4099620"/>
            <a:ext cx="2176011" cy="507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Enables Real-Time Monitoring</a:t>
            </a:r>
            <a:endParaRPr lang="en-US" sz="1550" dirty="0"/>
          </a:p>
        </p:txBody>
      </p:sp>
      <p:sp>
        <p:nvSpPr>
          <p:cNvPr id="26" name="Shape 21"/>
          <p:cNvSpPr/>
          <p:nvPr/>
        </p:nvSpPr>
        <p:spPr>
          <a:xfrm>
            <a:off x="6307476" y="4924028"/>
            <a:ext cx="2525252" cy="1104602"/>
          </a:xfrm>
          <a:prstGeom prst="roundRect">
            <a:avLst>
              <a:gd name="adj" fmla="val 640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82096" y="5098653"/>
            <a:ext cx="2176011" cy="75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Improves Operational Efficiency</a:t>
            </a:r>
            <a:endParaRPr lang="en-US" sz="1550" dirty="0"/>
          </a:p>
        </p:txBody>
      </p:sp>
      <p:sp>
        <p:nvSpPr>
          <p:cNvPr id="28" name="Shape 23"/>
          <p:cNvSpPr/>
          <p:nvPr/>
        </p:nvSpPr>
        <p:spPr>
          <a:xfrm>
            <a:off x="8974707" y="4924028"/>
            <a:ext cx="2525252" cy="1104602"/>
          </a:xfrm>
          <a:prstGeom prst="roundRect">
            <a:avLst>
              <a:gd name="adj" fmla="val 640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149327" y="5098653"/>
            <a:ext cx="2176011" cy="755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🏙️</a:t>
            </a:r>
            <a:r>
              <a:rPr lang="en-US" sz="15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Supports Sustainable Infrastructure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89855"/>
            <a:ext cx="10795524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Applications and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48668"/>
            <a:ext cx="5226713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Where the System Is Suitable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65771"/>
            <a:ext cx="280484" cy="280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01797" y="1613892"/>
            <a:ext cx="48230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Smart Cities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01797" y="1918593"/>
            <a:ext cx="4823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Integrated urban lighting management at scale.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306836"/>
            <a:ext cx="280484" cy="280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1797" y="2354957"/>
            <a:ext cx="48230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Highways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01797" y="2659658"/>
            <a:ext cx="4823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lighting for high-speed traffic corridors.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047901"/>
            <a:ext cx="280484" cy="280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01797" y="3096022"/>
            <a:ext cx="48230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Residential Areas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101797" y="3400723"/>
            <a:ext cx="4823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Safe, efficient lighting for communities.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788966"/>
            <a:ext cx="280484" cy="280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01797" y="3837087"/>
            <a:ext cx="48230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Industrial Zones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1101797" y="4141788"/>
            <a:ext cx="4823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Reliable lighting for operational and security needs.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4530030"/>
            <a:ext cx="280484" cy="2804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01797" y="4578152"/>
            <a:ext cx="48230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Educational Campuses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1101797" y="4882852"/>
            <a:ext cx="4823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lighting for student safety and energy savings.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273246" y="1248668"/>
            <a:ext cx="5226713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System Scope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6273246" y="1553369"/>
            <a:ext cx="5226713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can centrally monitor and manage </a:t>
            </a:r>
            <a:r>
              <a:rPr lang="en-US" sz="11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multiple streetlights simultaneously</a:t>
            </a: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adapting lighting conditions based on traffic movement and ambient light across any deployment environment.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98086" y="5295801"/>
            <a:ext cx="2624965" cy="972344"/>
          </a:xfrm>
          <a:prstGeom prst="roundRect">
            <a:avLst>
              <a:gd name="adj" fmla="val 605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857328" y="5455047"/>
            <a:ext cx="230648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Secure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857328" y="5726708"/>
            <a:ext cx="2306481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Protected data transmission and access control.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421572" y="5295801"/>
            <a:ext cx="2624965" cy="972344"/>
          </a:xfrm>
          <a:prstGeom prst="roundRect">
            <a:avLst>
              <a:gd name="adj" fmla="val 605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3580814" y="5455047"/>
            <a:ext cx="230648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Scalable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3580814" y="5726708"/>
            <a:ext cx="2306481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to grow with expanding infrastructure needs.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6145059" y="5295801"/>
            <a:ext cx="2624965" cy="972344"/>
          </a:xfrm>
          <a:prstGeom prst="roundRect">
            <a:avLst>
              <a:gd name="adj" fmla="val 605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304301" y="5455047"/>
            <a:ext cx="230648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Centralized Monitoring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304301" y="5726708"/>
            <a:ext cx="2306481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Single-platform visibility across all streetlights.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868545" y="5295801"/>
            <a:ext cx="2625064" cy="972344"/>
          </a:xfrm>
          <a:prstGeom prst="roundRect">
            <a:avLst>
              <a:gd name="adj" fmla="val 6058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FB8D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027787" y="5455047"/>
            <a:ext cx="23065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25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 Efficient Operations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9027787" y="5726708"/>
            <a:ext cx="230658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to support optimized, sustainable lighting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D2E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694" y="484882"/>
            <a:ext cx="4416017" cy="58882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601563"/>
            <a:ext cx="622363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371A2D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Conclusion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98086" y="1242516"/>
            <a:ext cx="6223638" cy="666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</a:t>
            </a:r>
            <a:r>
              <a:rPr lang="en-US" sz="12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Smart Street Lighting System</a:t>
            </a: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provides an intelligent alternative to conventional fixed-brightness streetlights — combining motion sensors, light intensity sensors, IoT communication, and a centralized dashboard to deliver dynamic, condition-responsive lighting.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98086" y="2045593"/>
            <a:ext cx="6223638" cy="3355975"/>
          </a:xfrm>
          <a:prstGeom prst="roundRect">
            <a:avLst>
              <a:gd name="adj" fmla="val 1950"/>
            </a:avLst>
          </a:prstGeom>
          <a:solidFill>
            <a:srgbClr val="F9D2EB"/>
          </a:solidFill>
          <a:ln w="6350">
            <a:solidFill>
              <a:srgbClr val="DFB8D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436" y="2051943"/>
            <a:ext cx="6210938" cy="835819"/>
          </a:xfrm>
          <a:custGeom>
            <a:avLst/>
            <a:gdLst/>
            <a:ahLst/>
            <a:cxnLst/>
            <a:rect l="l" t="t" r="r" b="b"/>
            <a:pathLst>
              <a:path w="6210938" h="835819">
                <a:moveTo>
                  <a:pt x="54545" y="0"/>
                </a:moveTo>
                <a:lnTo>
                  <a:pt x="6156393" y="0"/>
                </a:lnTo>
                <a:arcTo wR="54545" hR="54546" stAng="16200000" swAng="5400000"/>
                <a:lnTo>
                  <a:pt x="6210938" y="835819"/>
                </a:lnTo>
                <a:lnTo>
                  <a:pt x="0" y="835819"/>
                </a:lnTo>
                <a:lnTo>
                  <a:pt x="0" y="54546"/>
                </a:lnTo>
                <a:arcTo wR="54545" hR="54546" stAng="10800000" swAng="5400000"/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8" name="Text 5"/>
          <p:cNvSpPr/>
          <p:nvPr/>
        </p:nvSpPr>
        <p:spPr>
          <a:xfrm>
            <a:off x="860205" y="2207716"/>
            <a:ext cx="58993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Detect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0205" y="2509937"/>
            <a:ext cx="589939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Motion and light sensors continuously gather traffic and ambient data.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436" y="2887762"/>
            <a:ext cx="6210938" cy="835819"/>
          </a:xfrm>
          <a:prstGeom prst="rect">
            <a:avLst/>
          </a:prstGeom>
          <a:solidFill>
            <a:srgbClr val="F9D2EB"/>
          </a:solidFill>
          <a:ln/>
        </p:spPr>
      </p:sp>
      <p:sp>
        <p:nvSpPr>
          <p:cNvPr id="11" name="Shape 8"/>
          <p:cNvSpPr/>
          <p:nvPr/>
        </p:nvSpPr>
        <p:spPr>
          <a:xfrm>
            <a:off x="704436" y="2887762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FB8D1"/>
          </a:solidFill>
          <a:ln/>
        </p:spPr>
      </p:sp>
      <p:sp>
        <p:nvSpPr>
          <p:cNvPr id="12" name="Text 9"/>
          <p:cNvSpPr/>
          <p:nvPr/>
        </p:nvSpPr>
        <p:spPr>
          <a:xfrm>
            <a:off x="860205" y="3043535"/>
            <a:ext cx="58993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Adapt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0205" y="3345755"/>
            <a:ext cx="589939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Brightness is dynamically adjusted to match real-world conditions.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436" y="3723580"/>
            <a:ext cx="6210938" cy="835819"/>
          </a:xfrm>
          <a:prstGeom prst="rect">
            <a:avLst/>
          </a:prstGeom>
          <a:solidFill>
            <a:srgbClr val="F9D2EB"/>
          </a:solidFill>
          <a:ln/>
        </p:spPr>
      </p:sp>
      <p:sp>
        <p:nvSpPr>
          <p:cNvPr id="15" name="Shape 12"/>
          <p:cNvSpPr/>
          <p:nvPr/>
        </p:nvSpPr>
        <p:spPr>
          <a:xfrm>
            <a:off x="704436" y="3723580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FB8D1"/>
          </a:solidFill>
          <a:ln/>
        </p:spPr>
      </p:sp>
      <p:sp>
        <p:nvSpPr>
          <p:cNvPr id="16" name="Text 13"/>
          <p:cNvSpPr/>
          <p:nvPr/>
        </p:nvSpPr>
        <p:spPr>
          <a:xfrm>
            <a:off x="860205" y="3879354"/>
            <a:ext cx="58993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Monitor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0205" y="4181574"/>
            <a:ext cx="589939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Dashboards provide status, energy, traffic, fault alerts, and maintenance reports.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4436" y="4559399"/>
            <a:ext cx="6210938" cy="835819"/>
          </a:xfrm>
          <a:custGeom>
            <a:avLst/>
            <a:gdLst/>
            <a:ahLst/>
            <a:cxnLst/>
            <a:rect l="l" t="t" r="r" b="b"/>
            <a:pathLst>
              <a:path w="6210938" h="835819">
                <a:moveTo>
                  <a:pt x="0" y="0"/>
                </a:moveTo>
                <a:lnTo>
                  <a:pt x="6210938" y="0"/>
                </a:lnTo>
                <a:lnTo>
                  <a:pt x="6210938" y="781272"/>
                </a:lnTo>
                <a:arcTo wR="54545" hR="54546" stAng="0" swAng="5400000"/>
                <a:lnTo>
                  <a:pt x="54545" y="835819"/>
                </a:lnTo>
                <a:arcTo wR="54545" hR="54546" stAng="5400000" swAng="5400000"/>
                <a:lnTo>
                  <a:pt x="0" y="0"/>
                </a:lnTo>
                <a:close/>
              </a:path>
            </a:pathLst>
          </a:custGeom>
          <a:solidFill>
            <a:srgbClr val="F9D2EB"/>
          </a:solidFill>
          <a:ln/>
        </p:spPr>
      </p:sp>
      <p:sp>
        <p:nvSpPr>
          <p:cNvPr id="19" name="Shape 16"/>
          <p:cNvSpPr/>
          <p:nvPr/>
        </p:nvSpPr>
        <p:spPr>
          <a:xfrm>
            <a:off x="704436" y="4559399"/>
            <a:ext cx="6210938" cy="19050"/>
          </a:xfrm>
          <a:prstGeom prst="roundRect">
            <a:avLst>
              <a:gd name="adj" fmla="val 49999"/>
            </a:avLst>
          </a:prstGeom>
          <a:solidFill>
            <a:srgbClr val="DFB8D1"/>
          </a:solidFill>
          <a:ln/>
        </p:spPr>
      </p:sp>
      <p:sp>
        <p:nvSpPr>
          <p:cNvPr id="20" name="Text 17"/>
          <p:cNvSpPr/>
          <p:nvPr/>
        </p:nvSpPr>
        <p:spPr>
          <a:xfrm>
            <a:off x="860205" y="4715173"/>
            <a:ext cx="589939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Noto Serif SemiBold" pitchFamily="34" charset="0"/>
                <a:ea typeface="Noto Serif SemiBold" pitchFamily="34" charset="-122"/>
                <a:cs typeface="Noto Serif SemiBold" pitchFamily="34" charset="-120"/>
              </a:rPr>
              <a:t>Sustain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60205" y="5017393"/>
            <a:ext cx="589939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Reduces electricity usage and costs while supporting smart-city infrastructure.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31839" y="5675412"/>
            <a:ext cx="5989885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4323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"Adaptive IoT-based street lighting improves safety, reduces energy consumption, and enables intelligent management of modern urban infrastructure."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8086" y="5538490"/>
            <a:ext cx="19050" cy="717947"/>
          </a:xfrm>
          <a:prstGeom prst="roundRect">
            <a:avLst>
              <a:gd name="adj" fmla="val 49999"/>
            </a:avLst>
          </a:prstGeom>
          <a:solidFill>
            <a:srgbClr val="E851B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867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Serif SemiBold</vt:lpstr>
      <vt:lpstr>Twemoji Mozilla</vt:lpstr>
      <vt:lpstr>Arial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2026-08-19T06:40:33Z</dcterms:created>
  <dcterms:modified xsi:type="dcterms:W3CDTF">2026-10-01T10:00:37Z</dcterms:modified>
</cp:coreProperties>
</file>